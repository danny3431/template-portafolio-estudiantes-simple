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57" r:id="rId4"/>
    <p:sldId id="261" r:id="rId5"/>
    <p:sldId id="264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92" d="100"/>
          <a:sy n="92" d="100"/>
        </p:scale>
        <p:origin x="1214" y="-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a Puebla" userId="c02109bdac0e9aa0" providerId="LiveId" clId="{49A1C119-0D39-42F3-A0EB-AD573FCEECB5}"/>
    <pc:docChg chg="modSld">
      <pc:chgData name="Daniela Puebla" userId="c02109bdac0e9aa0" providerId="LiveId" clId="{49A1C119-0D39-42F3-A0EB-AD573FCEECB5}" dt="2026-03-25T16:34:38.403" v="4" actId="20577"/>
      <pc:docMkLst>
        <pc:docMk/>
      </pc:docMkLst>
      <pc:sldChg chg="modSp mod">
        <pc:chgData name="Daniela Puebla" userId="c02109bdac0e9aa0" providerId="LiveId" clId="{49A1C119-0D39-42F3-A0EB-AD573FCEECB5}" dt="2026-03-25T16:34:38.403" v="4" actId="20577"/>
        <pc:sldMkLst>
          <pc:docMk/>
          <pc:sldMk cId="2527710484" sldId="256"/>
        </pc:sldMkLst>
        <pc:spChg chg="mod">
          <ac:chgData name="Daniela Puebla" userId="c02109bdac0e9aa0" providerId="LiveId" clId="{49A1C119-0D39-42F3-A0EB-AD573FCEECB5}" dt="2026-03-25T16:34:38.403" v="4" actId="20577"/>
          <ac:spMkLst>
            <pc:docMk/>
            <pc:sldMk cId="2527710484" sldId="256"/>
            <ac:spMk id="4" creationId="{1D6C2D89-992C-474F-98AE-92BA9172ED2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D8A62-6C7C-4984-8C90-5620CFEF2218}" type="datetimeFigureOut">
              <a:rPr lang="es-CL" smtClean="0"/>
              <a:t>25-03-2026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41C5A-5503-4924-84B0-AB5C37337D5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28384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D8A62-6C7C-4984-8C90-5620CFEF2218}" type="datetimeFigureOut">
              <a:rPr lang="es-CL" smtClean="0"/>
              <a:t>25-03-2026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41C5A-5503-4924-84B0-AB5C37337D5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40197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D8A62-6C7C-4984-8C90-5620CFEF2218}" type="datetimeFigureOut">
              <a:rPr lang="es-CL" smtClean="0"/>
              <a:t>25-03-2026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41C5A-5503-4924-84B0-AB5C37337D5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9636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D8A62-6C7C-4984-8C90-5620CFEF2218}" type="datetimeFigureOut">
              <a:rPr lang="es-CL" smtClean="0"/>
              <a:t>25-03-2026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41C5A-5503-4924-84B0-AB5C37337D5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51837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D8A62-6C7C-4984-8C90-5620CFEF2218}" type="datetimeFigureOut">
              <a:rPr lang="es-CL" smtClean="0"/>
              <a:t>25-03-2026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41C5A-5503-4924-84B0-AB5C37337D5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68995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D8A62-6C7C-4984-8C90-5620CFEF2218}" type="datetimeFigureOut">
              <a:rPr lang="es-CL" smtClean="0"/>
              <a:t>25-03-2026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41C5A-5503-4924-84B0-AB5C37337D5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38042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D8A62-6C7C-4984-8C90-5620CFEF2218}" type="datetimeFigureOut">
              <a:rPr lang="es-CL" smtClean="0"/>
              <a:t>25-03-2026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41C5A-5503-4924-84B0-AB5C37337D5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17719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D8A62-6C7C-4984-8C90-5620CFEF2218}" type="datetimeFigureOut">
              <a:rPr lang="es-CL" smtClean="0"/>
              <a:t>25-03-2026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41C5A-5503-4924-84B0-AB5C37337D5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62823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D8A62-6C7C-4984-8C90-5620CFEF2218}" type="datetimeFigureOut">
              <a:rPr lang="es-CL" smtClean="0"/>
              <a:t>25-03-2026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41C5A-5503-4924-84B0-AB5C37337D5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1918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D8A62-6C7C-4984-8C90-5620CFEF2218}" type="datetimeFigureOut">
              <a:rPr lang="es-CL" smtClean="0"/>
              <a:t>25-03-2026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41C5A-5503-4924-84B0-AB5C37337D5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6592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D8A62-6C7C-4984-8C90-5620CFEF2218}" type="datetimeFigureOut">
              <a:rPr lang="es-CL" smtClean="0"/>
              <a:t>25-03-2026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41C5A-5503-4924-84B0-AB5C37337D5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14257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2D8A62-6C7C-4984-8C90-5620CFEF2218}" type="datetimeFigureOut">
              <a:rPr lang="es-CL" smtClean="0"/>
              <a:t>25-03-2026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241C5A-5503-4924-84B0-AB5C37337D5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00793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nny3431/template-perfil-github-estudiante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Mariocanedo/MarsApiPm/" TargetMode="Externa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jayxuss/evaluacion-M6" TargetMode="Externa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nny3431/template-perfil-github-estudiante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A58F3B6-36DE-8D06-6337-8D2759D072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72" b="10538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xt_nombre">
            <a:extLst>
              <a:ext uri="{FF2B5EF4-FFF2-40B4-BE49-F238E27FC236}">
                <a16:creationId xmlns:a16="http://schemas.microsoft.com/office/drawing/2014/main" id="{9AFFD4E6-3B3B-4497-A198-699A030F0519}"/>
              </a:ext>
            </a:extLst>
          </p:cNvPr>
          <p:cNvSpPr txBox="1"/>
          <p:nvPr/>
        </p:nvSpPr>
        <p:spPr>
          <a:xfrm>
            <a:off x="571500" y="2235200"/>
            <a:ext cx="4572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Calibri"/>
                <a:cs typeface="Calibri"/>
              </a:rPr>
              <a:t>TU NOMBRE</a:t>
            </a:r>
          </a:p>
        </p:txBody>
      </p:sp>
      <p:sp>
        <p:nvSpPr>
          <p:cNvPr id="4" name="txt_portfolio">
            <a:extLst>
              <a:ext uri="{FF2B5EF4-FFF2-40B4-BE49-F238E27FC236}">
                <a16:creationId xmlns:a16="http://schemas.microsoft.com/office/drawing/2014/main" id="{1D6C2D89-992C-474F-98AE-92BA9172ED2E}"/>
              </a:ext>
            </a:extLst>
          </p:cNvPr>
          <p:cNvSpPr txBox="1"/>
          <p:nvPr/>
        </p:nvSpPr>
        <p:spPr>
          <a:xfrm>
            <a:off x="508000" y="2547829"/>
            <a:ext cx="5078153" cy="1219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7200">
                <a:solidFill>
                  <a:srgbClr val="FFFFFF"/>
                </a:solidFill>
                <a:latin typeface="Calibri"/>
                <a:cs typeface="Calibri"/>
              </a:rPr>
              <a:t>PORTAFOLIO</a:t>
            </a:r>
            <a:endParaRPr lang="en-US" sz="7200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6" name="txt_subtitulo">
            <a:extLst>
              <a:ext uri="{FF2B5EF4-FFF2-40B4-BE49-F238E27FC236}">
                <a16:creationId xmlns:a16="http://schemas.microsoft.com/office/drawing/2014/main" id="{70BBFDAB-94D3-4A93-B59A-9C43B46B4357}"/>
              </a:ext>
            </a:extLst>
          </p:cNvPr>
          <p:cNvSpPr txBox="1"/>
          <p:nvPr/>
        </p:nvSpPr>
        <p:spPr>
          <a:xfrm>
            <a:off x="635000" y="3835400"/>
            <a:ext cx="6604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Calibri"/>
                <a:cs typeface="Calibri"/>
              </a:rPr>
              <a:t>DESARROLLO APP MÓVILES</a:t>
            </a:r>
          </a:p>
        </p:txBody>
      </p:sp>
      <p:pic>
        <p:nvPicPr>
          <p:cNvPr id="2" name="Picture 1" descr="Photorealistic modern smartphone (celular) front view at slight angle, thin bezels, blank dark screen, subtle realistic reflections, clean cutout with crisp edges, ABSOLUTELY no text, with a transparent background">
            <a:extLst>
              <a:ext uri="{FF2B5EF4-FFF2-40B4-BE49-F238E27FC236}">
                <a16:creationId xmlns:a16="http://schemas.microsoft.com/office/drawing/2014/main" id="{E3273D95-A190-9E8F-281C-CDFF74BE8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898635"/>
            <a:ext cx="4064000" cy="4064000"/>
          </a:xfrm>
          <a:prstGeom prst="rect">
            <a:avLst/>
          </a:prstGeom>
        </p:spPr>
      </p:pic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C3683C4B-A011-1087-1F67-A10D3A671F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381966"/>
              </p:ext>
            </p:extLst>
          </p:nvPr>
        </p:nvGraphicFramePr>
        <p:xfrm>
          <a:off x="508000" y="5880759"/>
          <a:ext cx="2324100" cy="434828"/>
        </p:xfrm>
        <a:graphic>
          <a:graphicData uri="http://schemas.openxmlformats.org/drawingml/2006/table">
            <a:tbl>
              <a:tblPr/>
              <a:tblGrid>
                <a:gridCol w="2324100">
                  <a:extLst>
                    <a:ext uri="{9D8B030D-6E8A-4147-A177-3AD203B41FA5}">
                      <a16:colId xmlns:a16="http://schemas.microsoft.com/office/drawing/2014/main" val="2294894202"/>
                    </a:ext>
                  </a:extLst>
                </a:gridCol>
              </a:tblGrid>
              <a:tr h="434828">
                <a:tc>
                  <a:txBody>
                    <a:bodyPr/>
                    <a:lstStyle/>
                    <a:p>
                      <a:pPr marL="354330" algn="l">
                        <a:lnSpc>
                          <a:spcPts val="2740"/>
                        </a:lnSpc>
                        <a:spcBef>
                          <a:spcPts val="2345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CL" sz="1550" kern="100" spc="130" dirty="0">
                          <a:solidFill>
                            <a:srgbClr val="EBEBEB"/>
                          </a:solidFill>
                          <a:effectLst/>
                          <a:latin typeface="RTUSAV+Poppins Regular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TU-LINKEDIN</a:t>
                      </a:r>
                      <a:endParaRPr lang="es-CL" sz="11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4158010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CCDA44A8-17D4-E274-9777-C829B06D95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224352"/>
              </p:ext>
            </p:extLst>
          </p:nvPr>
        </p:nvGraphicFramePr>
        <p:xfrm>
          <a:off x="831645" y="5499759"/>
          <a:ext cx="3258574" cy="312629"/>
        </p:xfrm>
        <a:graphic>
          <a:graphicData uri="http://schemas.openxmlformats.org/drawingml/2006/table">
            <a:tbl>
              <a:tblPr/>
              <a:tblGrid>
                <a:gridCol w="3258574">
                  <a:extLst>
                    <a:ext uri="{9D8B030D-6E8A-4147-A177-3AD203B41FA5}">
                      <a16:colId xmlns:a16="http://schemas.microsoft.com/office/drawing/2014/main" val="2067991360"/>
                    </a:ext>
                  </a:extLst>
                </a:gridCol>
              </a:tblGrid>
              <a:tr h="312629">
                <a:tc>
                  <a:txBody>
                    <a:bodyPr/>
                    <a:lstStyle/>
                    <a:p>
                      <a:pPr algn="l">
                        <a:lnSpc>
                          <a:spcPts val="274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CL" sz="1550" kern="100" spc="130" dirty="0">
                          <a:solidFill>
                            <a:srgbClr val="EBEBEB"/>
                          </a:solidFill>
                          <a:effectLst/>
                          <a:latin typeface="RTUSAV+Poppins Regular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TU-EMAIL@EJEMPLO.COM</a:t>
                      </a:r>
                      <a:endParaRPr lang="es-CL" sz="11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9486436"/>
                  </a:ext>
                </a:extLst>
              </a:tr>
            </a:tbl>
          </a:graphicData>
        </a:graphic>
      </p:graphicFrame>
      <p:sp>
        <p:nvSpPr>
          <p:cNvPr id="25" name="Rectángulo: esquinas superiores redondeadas 24">
            <a:extLst>
              <a:ext uri="{FF2B5EF4-FFF2-40B4-BE49-F238E27FC236}">
                <a16:creationId xmlns:a16="http://schemas.microsoft.com/office/drawing/2014/main" id="{2846A200-73FD-BE73-E3A0-9C5E4A1B3D84}"/>
              </a:ext>
            </a:extLst>
          </p:cNvPr>
          <p:cNvSpPr/>
          <p:nvPr/>
        </p:nvSpPr>
        <p:spPr>
          <a:xfrm>
            <a:off x="948380" y="320085"/>
            <a:ext cx="1786507" cy="431800"/>
          </a:xfrm>
          <a:prstGeom prst="round2SameRect">
            <a:avLst>
              <a:gd name="adj1" fmla="val 26042"/>
              <a:gd name="adj2" fmla="val 39062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chemeClr val="tx1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B320F9A-5363-1B96-AEB6-8EEFD59425C4}"/>
              </a:ext>
            </a:extLst>
          </p:cNvPr>
          <p:cNvSpPr txBox="1"/>
          <p:nvPr/>
        </p:nvSpPr>
        <p:spPr>
          <a:xfrm>
            <a:off x="1269195" y="320085"/>
            <a:ext cx="1337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>
                <a:solidFill>
                  <a:schemeClr val="bg1"/>
                </a:solidFill>
              </a:rPr>
              <a:t>Tú marca</a:t>
            </a:r>
          </a:p>
        </p:txBody>
      </p:sp>
    </p:spTree>
    <p:extLst>
      <p:ext uri="{BB962C8B-B14F-4D97-AF65-F5344CB8AC3E}">
        <p14:creationId xmlns:p14="http://schemas.microsoft.com/office/powerpoint/2010/main" val="2527710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E9CEC-7855-07DB-1FB4-3A1389288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89C706E-FD45-1261-60DB-2CD351BD30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72" b="10538"/>
          <a:stretch>
            <a:fillRect/>
          </a:stretch>
        </p:blipFill>
        <p:spPr>
          <a:xfrm>
            <a:off x="32348" y="156658"/>
            <a:ext cx="9144000" cy="6858000"/>
          </a:xfrm>
          <a:prstGeom prst="rect">
            <a:avLst/>
          </a:prstGeom>
        </p:spPr>
      </p:pic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DE3DEB57-02E0-E4AF-760B-ACF4B54E25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589630"/>
              </p:ext>
            </p:extLst>
          </p:nvPr>
        </p:nvGraphicFramePr>
        <p:xfrm>
          <a:off x="3714584" y="5972643"/>
          <a:ext cx="2324100" cy="311087"/>
        </p:xfrm>
        <a:graphic>
          <a:graphicData uri="http://schemas.openxmlformats.org/drawingml/2006/table">
            <a:tbl>
              <a:tblPr/>
              <a:tblGrid>
                <a:gridCol w="2324100">
                  <a:extLst>
                    <a:ext uri="{9D8B030D-6E8A-4147-A177-3AD203B41FA5}">
                      <a16:colId xmlns:a16="http://schemas.microsoft.com/office/drawing/2014/main" val="2294894202"/>
                    </a:ext>
                  </a:extLst>
                </a:gridCol>
              </a:tblGrid>
              <a:tr h="307777">
                <a:tc>
                  <a:txBody>
                    <a:bodyPr/>
                    <a:lstStyle/>
                    <a:p>
                      <a:pPr marL="354330" algn="l">
                        <a:lnSpc>
                          <a:spcPts val="2740"/>
                        </a:lnSpc>
                        <a:spcBef>
                          <a:spcPts val="2345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CL" sz="1550" kern="100" spc="130" dirty="0">
                          <a:solidFill>
                            <a:srgbClr val="EBEBEB"/>
                          </a:solidFill>
                          <a:effectLst/>
                          <a:latin typeface="RTUSAV+Poppins Regular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TU-LINKEDIN</a:t>
                      </a:r>
                      <a:endParaRPr lang="es-CL" sz="11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4158010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CCA4FBA1-441D-05FD-68FB-4AE5A88E92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106926"/>
              </p:ext>
            </p:extLst>
          </p:nvPr>
        </p:nvGraphicFramePr>
        <p:xfrm>
          <a:off x="465636" y="5958978"/>
          <a:ext cx="2762102" cy="312629"/>
        </p:xfrm>
        <a:graphic>
          <a:graphicData uri="http://schemas.openxmlformats.org/drawingml/2006/table">
            <a:tbl>
              <a:tblPr/>
              <a:tblGrid>
                <a:gridCol w="2762102">
                  <a:extLst>
                    <a:ext uri="{9D8B030D-6E8A-4147-A177-3AD203B41FA5}">
                      <a16:colId xmlns:a16="http://schemas.microsoft.com/office/drawing/2014/main" val="2067991360"/>
                    </a:ext>
                  </a:extLst>
                </a:gridCol>
              </a:tblGrid>
              <a:tr h="312629">
                <a:tc>
                  <a:txBody>
                    <a:bodyPr/>
                    <a:lstStyle/>
                    <a:p>
                      <a:pPr algn="l">
                        <a:lnSpc>
                          <a:spcPts val="274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CL" sz="1550" kern="100" spc="130" dirty="0">
                          <a:solidFill>
                            <a:srgbClr val="EBEBEB"/>
                          </a:solidFill>
                          <a:effectLst/>
                          <a:latin typeface="RTUSAV+Poppins Regular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TU-EMAIL@EJEMPLO.COM</a:t>
                      </a:r>
                      <a:endParaRPr lang="es-CL" sz="11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9486436"/>
                  </a:ext>
                </a:extLst>
              </a:tr>
            </a:tbl>
          </a:graphicData>
        </a:graphic>
      </p:graphicFrame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91BCD3AC-7C57-B1E2-CBF0-2C8F379142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417046"/>
              </p:ext>
            </p:extLst>
          </p:nvPr>
        </p:nvGraphicFramePr>
        <p:xfrm>
          <a:off x="371715" y="376264"/>
          <a:ext cx="1653540" cy="307721"/>
        </p:xfrm>
        <a:graphic>
          <a:graphicData uri="http://schemas.openxmlformats.org/drawingml/2006/table">
            <a:tbl>
              <a:tblPr/>
              <a:tblGrid>
                <a:gridCol w="1653540">
                  <a:extLst>
                    <a:ext uri="{9D8B030D-6E8A-4147-A177-3AD203B41FA5}">
                      <a16:colId xmlns:a16="http://schemas.microsoft.com/office/drawing/2014/main" val="21165310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2475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CL" sz="2000" kern="100" dirty="0">
                          <a:solidFill>
                            <a:srgbClr val="EBEBEB"/>
                          </a:solidFill>
                          <a:effectLst/>
                          <a:latin typeface="PHOETM+Open Sauce One Regular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s-CL" sz="2000" kern="100" spc="200" dirty="0">
                          <a:solidFill>
                            <a:srgbClr val="EBEBEB"/>
                          </a:solidFill>
                          <a:effectLst/>
                          <a:latin typeface="PHOETM+Open Sauce One Regular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CL" sz="2000" kern="100" dirty="0">
                          <a:solidFill>
                            <a:srgbClr val="EBEBEB"/>
                          </a:solidFill>
                          <a:effectLst/>
                          <a:latin typeface="PHOETM+Open Sauce One Regular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s-CL" sz="2000" kern="100" spc="200" dirty="0">
                          <a:solidFill>
                            <a:srgbClr val="EBEBEB"/>
                          </a:solidFill>
                          <a:effectLst/>
                          <a:latin typeface="PHOETM+Open Sauce One Regular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CL" sz="2000" kern="100" dirty="0">
                          <a:solidFill>
                            <a:srgbClr val="EBEBEB"/>
                          </a:solidFill>
                          <a:effectLst/>
                          <a:latin typeface="PHOETM+Open Sauce One Regular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s-CL" sz="2000" kern="100" spc="200" dirty="0">
                          <a:solidFill>
                            <a:srgbClr val="EBEBEB"/>
                          </a:solidFill>
                          <a:effectLst/>
                          <a:latin typeface="PHOETM+Open Sauce One Regular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CL" sz="2000" kern="100" dirty="0">
                          <a:solidFill>
                            <a:srgbClr val="EBEBEB"/>
                          </a:solidFill>
                          <a:effectLst/>
                          <a:latin typeface="PHOETM+Open Sauce One Regular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s-CL" sz="2000" kern="100" spc="200" dirty="0">
                          <a:solidFill>
                            <a:srgbClr val="EBEBEB"/>
                          </a:solidFill>
                          <a:effectLst/>
                          <a:latin typeface="PHOETM+Open Sauce One Regular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CL" sz="2000" kern="100" dirty="0">
                          <a:solidFill>
                            <a:srgbClr val="EBEBEB"/>
                          </a:solidFill>
                          <a:effectLst/>
                          <a:latin typeface="PHOETM+Open Sauce One Regular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s-CL" sz="2000" kern="100" spc="1520" dirty="0">
                          <a:solidFill>
                            <a:srgbClr val="EBEBEB"/>
                          </a:solidFill>
                          <a:effectLst/>
                          <a:latin typeface="PHOETM+Open Sauce One Regular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CL" sz="2000" kern="100" dirty="0">
                          <a:solidFill>
                            <a:srgbClr val="EBEBEB"/>
                          </a:solidFill>
                          <a:effectLst/>
                          <a:latin typeface="PHOETM+Open Sauce One Regular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s-CL" sz="2000" kern="100" spc="200" dirty="0">
                          <a:solidFill>
                            <a:srgbClr val="EBEBEB"/>
                          </a:solidFill>
                          <a:effectLst/>
                          <a:latin typeface="PHOETM+Open Sauce One Regular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CL" sz="2000" kern="100" dirty="0">
                          <a:solidFill>
                            <a:srgbClr val="EBEBEB"/>
                          </a:solidFill>
                          <a:effectLst/>
                          <a:latin typeface="PHOETM+Open Sauce One Regular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s-CL" sz="11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825231"/>
                  </a:ext>
                </a:extLst>
              </a:tr>
            </a:tbl>
          </a:graphicData>
        </a:graphic>
      </p:graphicFrame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DA59EFC6-9542-FC6B-5A68-958131A322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925353"/>
              </p:ext>
            </p:extLst>
          </p:nvPr>
        </p:nvGraphicFramePr>
        <p:xfrm>
          <a:off x="371715" y="1162017"/>
          <a:ext cx="8465266" cy="1180656"/>
        </p:xfrm>
        <a:graphic>
          <a:graphicData uri="http://schemas.openxmlformats.org/drawingml/2006/table">
            <a:tbl>
              <a:tblPr/>
              <a:tblGrid>
                <a:gridCol w="8465266">
                  <a:extLst>
                    <a:ext uri="{9D8B030D-6E8A-4147-A177-3AD203B41FA5}">
                      <a16:colId xmlns:a16="http://schemas.microsoft.com/office/drawing/2014/main" val="7392565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4085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CL" sz="3000" kern="100" dirty="0">
                          <a:solidFill>
                            <a:srgbClr val="EBEBEB"/>
                          </a:solidFill>
                          <a:effectLst/>
                          <a:latin typeface="QHTEFA+Open Sans Regular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Comenta en unas líneas sobre ti lo que haces en</a:t>
                      </a:r>
                      <a:endParaRPr lang="es-CL" sz="11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4085"/>
                        </a:lnSpc>
                        <a:spcBef>
                          <a:spcPts val="115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CL" sz="3000" kern="100" dirty="0">
                          <a:solidFill>
                            <a:srgbClr val="EBEBEB"/>
                          </a:solidFill>
                          <a:effectLst/>
                          <a:latin typeface="QHTEFA+Open Sans Regular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desarrollo de aplicaciones</a:t>
                      </a:r>
                      <a:endParaRPr lang="es-CL" sz="11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7850937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EAD7C13C-7013-EA18-167B-5535568C76CE}"/>
              </a:ext>
            </a:extLst>
          </p:cNvPr>
          <p:cNvSpPr txBox="1"/>
          <p:nvPr/>
        </p:nvSpPr>
        <p:spPr>
          <a:xfrm>
            <a:off x="6525530" y="5937850"/>
            <a:ext cx="21528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400" spc="105" dirty="0">
                <a:solidFill>
                  <a:srgbClr val="EBEBEB"/>
                </a:solidFill>
                <a:effectLst/>
                <a:latin typeface="ENDMLD+Poppins Regular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TU-USUARIO GITHUB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12718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BB26A-62A8-2BCC-3C9D-78A86DE4F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2240B86-1969-65B5-CD49-E9AA7187E4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72" b="10538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DFD242F-3DAB-2174-0113-D2F04D824C1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7146" y="1042045"/>
            <a:ext cx="1928762" cy="368087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D19F16A-1FDE-2BA0-7FA5-36C413F2DF3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740" y="501233"/>
            <a:ext cx="4809658" cy="4809658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6B43413D-57AC-BD3C-6B79-39A8B6CC78F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092" y="1163487"/>
            <a:ext cx="1952908" cy="347065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029BE52F-CA10-A6E3-1E22-5C7D50C0E98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9398" y="517565"/>
            <a:ext cx="4883450" cy="4762500"/>
          </a:xfrm>
          <a:prstGeom prst="rect">
            <a:avLst/>
          </a:prstGeom>
        </p:spPr>
      </p:pic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BAFEFFEC-84B5-6F29-3DE3-3CBEB2271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826375"/>
              </p:ext>
            </p:extLst>
          </p:nvPr>
        </p:nvGraphicFramePr>
        <p:xfrm>
          <a:off x="3826643" y="982321"/>
          <a:ext cx="1402062" cy="362331"/>
        </p:xfrm>
        <a:graphic>
          <a:graphicData uri="http://schemas.openxmlformats.org/drawingml/2006/table">
            <a:tbl>
              <a:tblPr/>
              <a:tblGrid>
                <a:gridCol w="1402062">
                  <a:extLst>
                    <a:ext uri="{9D8B030D-6E8A-4147-A177-3AD203B41FA5}">
                      <a16:colId xmlns:a16="http://schemas.microsoft.com/office/drawing/2014/main" val="6977257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2995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200" b="1" kern="100" dirty="0">
                          <a:solidFill>
                            <a:srgbClr val="FFFFFF"/>
                          </a:solidFill>
                          <a:effectLst/>
                          <a:latin typeface="AABTQP+Open Sans Regular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Dollar</a:t>
                      </a:r>
                      <a:r>
                        <a:rPr lang="en-US" sz="2200" kern="100" dirty="0">
                          <a:solidFill>
                            <a:srgbClr val="FFFFFF"/>
                          </a:solidFill>
                          <a:effectLst/>
                          <a:latin typeface="AABTQP+Open Sans Regular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b="1" kern="100" dirty="0">
                          <a:solidFill>
                            <a:srgbClr val="FFFFFF"/>
                          </a:solidFill>
                          <a:effectLst/>
                          <a:latin typeface="AABTQP+Open Sans Regular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App</a:t>
                      </a:r>
                      <a:endParaRPr lang="es-CL" sz="1100" b="1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502973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F6E812DB-ECC5-D8CC-796A-F7B7D93E7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488665"/>
              </p:ext>
            </p:extLst>
          </p:nvPr>
        </p:nvGraphicFramePr>
        <p:xfrm>
          <a:off x="2973614" y="1439497"/>
          <a:ext cx="3204098" cy="845439"/>
        </p:xfrm>
        <a:graphic>
          <a:graphicData uri="http://schemas.openxmlformats.org/drawingml/2006/table">
            <a:tbl>
              <a:tblPr/>
              <a:tblGrid>
                <a:gridCol w="3204098">
                  <a:extLst>
                    <a:ext uri="{9D8B030D-6E8A-4147-A177-3AD203B41FA5}">
                      <a16:colId xmlns:a16="http://schemas.microsoft.com/office/drawing/2014/main" val="17813099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ts val="2315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CL" sz="1200" kern="1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La aplicación de billetera virtual "</a:t>
                      </a:r>
                      <a:r>
                        <a:rPr lang="es-CL" sz="1200" b="1" kern="100" dirty="0" err="1">
                          <a:solidFill>
                            <a:srgbClr val="FFFFFF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Dollar</a:t>
                      </a:r>
                      <a:r>
                        <a:rPr lang="es-CL" sz="1200" b="1" kern="1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CL" sz="1200" b="1" kern="100" dirty="0" err="1">
                          <a:solidFill>
                            <a:srgbClr val="FFFFFF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Room</a:t>
                      </a:r>
                      <a:r>
                        <a:rPr lang="es-CL" sz="1200" kern="1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" es un proyecto que permite a los usuarios gestionar sus finanzas personales</a:t>
                      </a:r>
                      <a:endParaRPr lang="es-CL" sz="12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503532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47677EE7-3181-24EC-B0E0-3652E19533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2290144"/>
              </p:ext>
            </p:extLst>
          </p:nvPr>
        </p:nvGraphicFramePr>
        <p:xfrm>
          <a:off x="2811000" y="2444320"/>
          <a:ext cx="3448484" cy="2184972"/>
        </p:xfrm>
        <a:graphic>
          <a:graphicData uri="http://schemas.openxmlformats.org/drawingml/2006/table">
            <a:tbl>
              <a:tblPr/>
              <a:tblGrid>
                <a:gridCol w="3448484">
                  <a:extLst>
                    <a:ext uri="{9D8B030D-6E8A-4147-A177-3AD203B41FA5}">
                      <a16:colId xmlns:a16="http://schemas.microsoft.com/office/drawing/2014/main" val="1442605852"/>
                    </a:ext>
                  </a:extLst>
                </a:gridCol>
              </a:tblGrid>
              <a:tr h="2077804">
                <a:tc>
                  <a:txBody>
                    <a:bodyPr/>
                    <a:lstStyle/>
                    <a:p>
                      <a:pPr marL="148590" algn="l">
                        <a:lnSpc>
                          <a:spcPts val="2045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endParaRPr lang="es-CL" sz="1500" kern="100" dirty="0">
                        <a:solidFill>
                          <a:srgbClr val="FFFFFF"/>
                        </a:solidFill>
                        <a:effectLst/>
                        <a:latin typeface="AABTQP+Open Sans Regular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34340" indent="-285750" algn="l">
                        <a:lnSpc>
                          <a:spcPts val="2045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CL" sz="1400" b="1" kern="1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Compra y venta de dólares</a:t>
                      </a:r>
                    </a:p>
                    <a:p>
                      <a:pPr marL="434340" indent="-285750" algn="l">
                        <a:lnSpc>
                          <a:spcPts val="2045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CL" sz="1400" b="1" kern="1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Persistencia de estados: Lo permitirá llevar un registro histórico de las transacciones</a:t>
                      </a:r>
                    </a:p>
                    <a:p>
                      <a:pPr marL="148590" algn="l">
                        <a:lnSpc>
                          <a:spcPts val="2045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endParaRPr lang="es-CL" sz="11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705957"/>
                  </a:ext>
                </a:extLst>
              </a:tr>
            </a:tbl>
          </a:graphicData>
        </a:graphic>
      </p:graphicFrame>
      <p:sp>
        <p:nvSpPr>
          <p:cNvPr id="27" name="Rectángulo: esquinas superiores redondeadas 26">
            <a:extLst>
              <a:ext uri="{FF2B5EF4-FFF2-40B4-BE49-F238E27FC236}">
                <a16:creationId xmlns:a16="http://schemas.microsoft.com/office/drawing/2014/main" id="{9EDA3101-B666-AE26-531C-AA30C28E285E}"/>
              </a:ext>
            </a:extLst>
          </p:cNvPr>
          <p:cNvSpPr/>
          <p:nvPr/>
        </p:nvSpPr>
        <p:spPr>
          <a:xfrm>
            <a:off x="4048299" y="5655718"/>
            <a:ext cx="1155468" cy="345476"/>
          </a:xfrm>
          <a:prstGeom prst="round2SameRect">
            <a:avLst>
              <a:gd name="adj1" fmla="val 26042"/>
              <a:gd name="adj2" fmla="val 39062"/>
            </a:avLst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tx1"/>
              </a:solidFill>
            </a:endParaRPr>
          </a:p>
        </p:txBody>
      </p:sp>
      <p:graphicFrame>
        <p:nvGraphicFramePr>
          <p:cNvPr id="28" name="Tabla 27">
            <a:extLst>
              <a:ext uri="{FF2B5EF4-FFF2-40B4-BE49-F238E27FC236}">
                <a16:creationId xmlns:a16="http://schemas.microsoft.com/office/drawing/2014/main" id="{C66B70BD-D694-E4B3-4EAB-C268B35FCD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943862"/>
              </p:ext>
            </p:extLst>
          </p:nvPr>
        </p:nvGraphicFramePr>
        <p:xfrm>
          <a:off x="4264052" y="5731396"/>
          <a:ext cx="797376" cy="194120"/>
        </p:xfrm>
        <a:graphic>
          <a:graphicData uri="http://schemas.openxmlformats.org/drawingml/2006/table">
            <a:tbl>
              <a:tblPr/>
              <a:tblGrid>
                <a:gridCol w="797376">
                  <a:extLst>
                    <a:ext uri="{9D8B030D-6E8A-4147-A177-3AD203B41FA5}">
                      <a16:colId xmlns:a16="http://schemas.microsoft.com/office/drawing/2014/main" val="959028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635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CL" sz="1200" kern="100" dirty="0">
                          <a:solidFill>
                            <a:schemeClr val="tx1"/>
                          </a:solidFill>
                          <a:effectLst/>
                          <a:latin typeface="AABTQP+Open Sans Regular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Ir a GitHub</a:t>
                      </a:r>
                      <a:endParaRPr lang="es-CL" sz="11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4996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155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AC5E8-CF8E-B4B7-48EB-6826776F9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2A448AA-E6E0-65F7-6FB0-68B128D2D3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72" b="10538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993B721-C970-AEE0-A571-0815F22060B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7146" y="1042045"/>
            <a:ext cx="1928762" cy="368087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3CC30F6-5352-A492-9CB7-77821801369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740" y="501233"/>
            <a:ext cx="4809658" cy="4809658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B219F2ED-6087-4D10-983C-AC15FE4071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092" y="1163487"/>
            <a:ext cx="1952908" cy="347065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BB775F60-028A-C722-A7DA-CB35FFE1981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9398" y="517565"/>
            <a:ext cx="4883450" cy="4762500"/>
          </a:xfrm>
          <a:prstGeom prst="rect">
            <a:avLst/>
          </a:prstGeom>
        </p:spPr>
      </p:pic>
      <p:sp>
        <p:nvSpPr>
          <p:cNvPr id="2" name="Rectángulo: esquinas superiores redondeadas 1">
            <a:extLst>
              <a:ext uri="{FF2B5EF4-FFF2-40B4-BE49-F238E27FC236}">
                <a16:creationId xmlns:a16="http://schemas.microsoft.com/office/drawing/2014/main" id="{07E0B504-B50F-34FB-4809-1A49C37060B1}"/>
              </a:ext>
            </a:extLst>
          </p:cNvPr>
          <p:cNvSpPr/>
          <p:nvPr/>
        </p:nvSpPr>
        <p:spPr>
          <a:xfrm>
            <a:off x="4202430" y="6110088"/>
            <a:ext cx="1155468" cy="345476"/>
          </a:xfrm>
          <a:prstGeom prst="round2SameRect">
            <a:avLst>
              <a:gd name="adj1" fmla="val 26042"/>
              <a:gd name="adj2" fmla="val 39062"/>
            </a:avLst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tx1"/>
              </a:solidFill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87310299-7B09-1FF8-B15A-70F88A4FF4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227659"/>
              </p:ext>
            </p:extLst>
          </p:nvPr>
        </p:nvGraphicFramePr>
        <p:xfrm>
          <a:off x="4410594" y="6174398"/>
          <a:ext cx="739140" cy="194120"/>
        </p:xfrm>
        <a:graphic>
          <a:graphicData uri="http://schemas.openxmlformats.org/drawingml/2006/table">
            <a:tbl>
              <a:tblPr/>
              <a:tblGrid>
                <a:gridCol w="739140">
                  <a:extLst>
                    <a:ext uri="{9D8B030D-6E8A-4147-A177-3AD203B41FA5}">
                      <a16:colId xmlns:a16="http://schemas.microsoft.com/office/drawing/2014/main" val="31159315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635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CL" sz="1200" kern="100" dirty="0">
                          <a:solidFill>
                            <a:schemeClr val="tx1"/>
                          </a:solidFill>
                          <a:effectLst/>
                          <a:latin typeface="AABTQP+Open Sans Regular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Ir a GitHub</a:t>
                      </a:r>
                      <a:endParaRPr lang="es-CL" sz="11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321573"/>
                  </a:ext>
                </a:extLst>
              </a:tr>
            </a:tbl>
          </a:graphicData>
        </a:graphic>
      </p:graphicFrame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D97953DD-29D1-41C7-5A1B-0F63BEBFE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335951"/>
              </p:ext>
            </p:extLst>
          </p:nvPr>
        </p:nvGraphicFramePr>
        <p:xfrm>
          <a:off x="3888624" y="679714"/>
          <a:ext cx="1043940" cy="362331"/>
        </p:xfrm>
        <a:graphic>
          <a:graphicData uri="http://schemas.openxmlformats.org/drawingml/2006/table">
            <a:tbl>
              <a:tblPr/>
              <a:tblGrid>
                <a:gridCol w="1043940">
                  <a:extLst>
                    <a:ext uri="{9D8B030D-6E8A-4147-A177-3AD203B41FA5}">
                      <a16:colId xmlns:a16="http://schemas.microsoft.com/office/drawing/2014/main" val="33278654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2995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CL" sz="2200" kern="100" dirty="0">
                          <a:solidFill>
                            <a:srgbClr val="FFFFFF"/>
                          </a:solidFill>
                          <a:effectLst/>
                          <a:latin typeface="CIHKTH+Open Sans Regular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Mars API</a:t>
                      </a:r>
                      <a:endParaRPr lang="es-CL" sz="11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1790319"/>
                  </a:ext>
                </a:extLst>
              </a:tr>
            </a:tbl>
          </a:graphicData>
        </a:graphic>
      </p:graphicFrame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7EA3FAA5-9071-1B48-4954-19923223A0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1015677"/>
              </p:ext>
            </p:extLst>
          </p:nvPr>
        </p:nvGraphicFramePr>
        <p:xfrm>
          <a:off x="2908662" y="1292059"/>
          <a:ext cx="3350822" cy="560451"/>
        </p:xfrm>
        <a:graphic>
          <a:graphicData uri="http://schemas.openxmlformats.org/drawingml/2006/table">
            <a:tbl>
              <a:tblPr/>
              <a:tblGrid>
                <a:gridCol w="3350822">
                  <a:extLst>
                    <a:ext uri="{9D8B030D-6E8A-4147-A177-3AD203B41FA5}">
                      <a16:colId xmlns:a16="http://schemas.microsoft.com/office/drawing/2014/main" val="18291504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ts val="2315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CL" sz="1400" kern="1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Aplicación que por medio del consumo de una API, que guardará nuestra selección</a:t>
                      </a:r>
                      <a:endParaRPr lang="es-CL" sz="14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117825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A4E29D69-B9E9-4969-3DA2-0CFD4E2E44B5}"/>
              </a:ext>
            </a:extLst>
          </p:cNvPr>
          <p:cNvSpPr txBox="1"/>
          <p:nvPr/>
        </p:nvSpPr>
        <p:spPr>
          <a:xfrm>
            <a:off x="2813305" y="2048821"/>
            <a:ext cx="344617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sz="1200" b="1" dirty="0">
                <a:solidFill>
                  <a:schemeClr val="bg1"/>
                </a:solidFill>
              </a:rPr>
              <a:t>Consumo de API</a:t>
            </a:r>
            <a:r>
              <a:rPr lang="es-CL" sz="1200" dirty="0">
                <a:solidFill>
                  <a:schemeClr val="bg1"/>
                </a:solidFill>
              </a:rPr>
              <a:t>:</a:t>
            </a:r>
          </a:p>
          <a:p>
            <a:pPr algn="just"/>
            <a:endParaRPr lang="es-CL" sz="1200" dirty="0">
              <a:solidFill>
                <a:schemeClr val="bg1"/>
              </a:solidFill>
            </a:endParaRPr>
          </a:p>
          <a:p>
            <a:pPr algn="just"/>
            <a:r>
              <a:rPr lang="es-CL" sz="1200" dirty="0">
                <a:solidFill>
                  <a:schemeClr val="bg1"/>
                </a:solidFill>
              </a:rPr>
              <a:t>La aplicación se conectará a una API que proporciona datos sobre terrenos en Marte, permitiendo a los usuarios explorar ver datos y seleccionar terrenos en el planeta rojo y almacenarlos en una lista</a:t>
            </a:r>
          </a:p>
          <a:p>
            <a:endParaRPr lang="es-CL" sz="1200" dirty="0">
              <a:solidFill>
                <a:schemeClr val="bg1"/>
              </a:solidFill>
            </a:endParaRPr>
          </a:p>
          <a:p>
            <a:r>
              <a:rPr lang="es-CL" sz="1200" b="1" dirty="0">
                <a:solidFill>
                  <a:schemeClr val="bg1"/>
                </a:solidFill>
              </a:rPr>
              <a:t>Persistencia de estados</a:t>
            </a:r>
            <a:r>
              <a:rPr lang="es-CL" sz="1200" dirty="0">
                <a:solidFill>
                  <a:schemeClr val="bg1"/>
                </a:solidFill>
              </a:rPr>
              <a:t>:</a:t>
            </a:r>
          </a:p>
          <a:p>
            <a:endParaRPr lang="es-CL" sz="1200" dirty="0">
              <a:solidFill>
                <a:schemeClr val="bg1"/>
              </a:solidFill>
            </a:endParaRPr>
          </a:p>
          <a:p>
            <a:r>
              <a:rPr lang="es-CL" sz="1200" dirty="0">
                <a:solidFill>
                  <a:schemeClr val="bg1"/>
                </a:solidFill>
              </a:rPr>
              <a:t>La aplicación permitirá a los usuarios guardar sus terrenos favoritos en una lista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80022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0B068-41E7-A02D-FEA9-AD318517D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855CAE4-86E2-DF5A-9F4C-C171DA7424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72" b="10538"/>
          <a:stretch>
            <a:fillRect/>
          </a:stretch>
        </p:blipFill>
        <p:spPr>
          <a:xfrm>
            <a:off x="32348" y="156658"/>
            <a:ext cx="9144000" cy="6858000"/>
          </a:xfrm>
          <a:prstGeom prst="rect">
            <a:avLst/>
          </a:prstGeom>
        </p:spPr>
      </p:pic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24529E19-2908-20FE-C63E-8FA1A7C5B2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446181"/>
              </p:ext>
            </p:extLst>
          </p:nvPr>
        </p:nvGraphicFramePr>
        <p:xfrm>
          <a:off x="3592164" y="5958978"/>
          <a:ext cx="2324100" cy="311087"/>
        </p:xfrm>
        <a:graphic>
          <a:graphicData uri="http://schemas.openxmlformats.org/drawingml/2006/table">
            <a:tbl>
              <a:tblPr/>
              <a:tblGrid>
                <a:gridCol w="2324100">
                  <a:extLst>
                    <a:ext uri="{9D8B030D-6E8A-4147-A177-3AD203B41FA5}">
                      <a16:colId xmlns:a16="http://schemas.microsoft.com/office/drawing/2014/main" val="2294894202"/>
                    </a:ext>
                  </a:extLst>
                </a:gridCol>
              </a:tblGrid>
              <a:tr h="307777">
                <a:tc>
                  <a:txBody>
                    <a:bodyPr/>
                    <a:lstStyle/>
                    <a:p>
                      <a:pPr marL="354330" algn="l">
                        <a:lnSpc>
                          <a:spcPts val="2740"/>
                        </a:lnSpc>
                        <a:spcBef>
                          <a:spcPts val="2345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CL" sz="1550" kern="100" spc="130" dirty="0">
                          <a:solidFill>
                            <a:srgbClr val="EBEBEB"/>
                          </a:solidFill>
                          <a:effectLst/>
                          <a:latin typeface="RTUSAV+Poppins Regular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TU-LINKEDIN</a:t>
                      </a:r>
                      <a:endParaRPr lang="es-CL" sz="11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4158010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FAFFC667-838F-DE4E-F770-2CB2F3C296F0}"/>
              </a:ext>
            </a:extLst>
          </p:cNvPr>
          <p:cNvGraphicFramePr>
            <a:graphicFrameLocks noGrp="1"/>
          </p:cNvGraphicFramePr>
          <p:nvPr/>
        </p:nvGraphicFramePr>
        <p:xfrm>
          <a:off x="465636" y="5958978"/>
          <a:ext cx="2762102" cy="312629"/>
        </p:xfrm>
        <a:graphic>
          <a:graphicData uri="http://schemas.openxmlformats.org/drawingml/2006/table">
            <a:tbl>
              <a:tblPr/>
              <a:tblGrid>
                <a:gridCol w="2762102">
                  <a:extLst>
                    <a:ext uri="{9D8B030D-6E8A-4147-A177-3AD203B41FA5}">
                      <a16:colId xmlns:a16="http://schemas.microsoft.com/office/drawing/2014/main" val="2067991360"/>
                    </a:ext>
                  </a:extLst>
                </a:gridCol>
              </a:tblGrid>
              <a:tr h="312629">
                <a:tc>
                  <a:txBody>
                    <a:bodyPr/>
                    <a:lstStyle/>
                    <a:p>
                      <a:pPr algn="l">
                        <a:lnSpc>
                          <a:spcPts val="274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CL" sz="1550" kern="100" spc="130" dirty="0">
                          <a:solidFill>
                            <a:srgbClr val="EBEBEB"/>
                          </a:solidFill>
                          <a:effectLst/>
                          <a:latin typeface="RTUSAV+Poppins Regular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TU-EMAIL@EJEMPLO.COM</a:t>
                      </a:r>
                      <a:endParaRPr lang="es-CL" sz="11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9486436"/>
                  </a:ext>
                </a:extLst>
              </a:tr>
            </a:tbl>
          </a:graphicData>
        </a:graphic>
      </p:graphicFrame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BF28FD0C-ADED-5A1C-D167-0268E5C30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239234"/>
              </p:ext>
            </p:extLst>
          </p:nvPr>
        </p:nvGraphicFramePr>
        <p:xfrm>
          <a:off x="371715" y="376264"/>
          <a:ext cx="2471238" cy="306070"/>
        </p:xfrm>
        <a:graphic>
          <a:graphicData uri="http://schemas.openxmlformats.org/drawingml/2006/table">
            <a:tbl>
              <a:tblPr/>
              <a:tblGrid>
                <a:gridCol w="2471238">
                  <a:extLst>
                    <a:ext uri="{9D8B030D-6E8A-4147-A177-3AD203B41FA5}">
                      <a16:colId xmlns:a16="http://schemas.microsoft.com/office/drawing/2014/main" val="21165310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2475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CL" sz="2000" kern="100" dirty="0">
                          <a:solidFill>
                            <a:srgbClr val="EBEBEB"/>
                          </a:solidFill>
                          <a:effectLst/>
                          <a:latin typeface="SREHOP+Open Sauce One Regular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s-CL" sz="2000" kern="100" spc="260" dirty="0">
                          <a:solidFill>
                            <a:srgbClr val="EBEBEB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CL" sz="2000" kern="100" dirty="0">
                          <a:solidFill>
                            <a:srgbClr val="EBEBEB"/>
                          </a:solidFill>
                          <a:effectLst/>
                          <a:latin typeface="SREHOP+Open Sauce One Regular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s-CL" sz="2000" kern="100" spc="260" dirty="0">
                          <a:solidFill>
                            <a:srgbClr val="EBEBEB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CL" sz="2000" kern="100" dirty="0">
                          <a:solidFill>
                            <a:srgbClr val="EBEBEB"/>
                          </a:solidFill>
                          <a:effectLst/>
                          <a:latin typeface="SREHOP+Open Sauce One Regular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s-CL" sz="2000" kern="100" spc="260" dirty="0">
                          <a:solidFill>
                            <a:srgbClr val="EBEBEB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CL" sz="2000" kern="100" dirty="0">
                          <a:solidFill>
                            <a:srgbClr val="EBEBEB"/>
                          </a:solidFill>
                          <a:effectLst/>
                          <a:latin typeface="SREHOP+Open Sauce One Regular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s-CL" sz="2000" kern="100" spc="260" dirty="0">
                          <a:solidFill>
                            <a:srgbClr val="EBEBEB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CL" sz="2000" kern="100" dirty="0">
                          <a:solidFill>
                            <a:srgbClr val="EBEBEB"/>
                          </a:solidFill>
                          <a:effectLst/>
                          <a:latin typeface="SREHOP+Open Sauce One Regular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s-CL" sz="2000" kern="100" spc="260" dirty="0">
                          <a:solidFill>
                            <a:srgbClr val="EBEBEB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CL" sz="2000" kern="100" dirty="0">
                          <a:solidFill>
                            <a:srgbClr val="EBEBEB"/>
                          </a:solidFill>
                          <a:effectLst/>
                          <a:latin typeface="SREHOP+Open Sauce One Regular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s-CL" sz="2000" kern="100" spc="260" dirty="0">
                          <a:solidFill>
                            <a:srgbClr val="EBEBEB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CL" sz="2000" kern="100" dirty="0">
                          <a:solidFill>
                            <a:srgbClr val="EBEBEB"/>
                          </a:solidFill>
                          <a:effectLst/>
                          <a:latin typeface="SREHOP+Open Sauce One Regular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s-CL" sz="2000" kern="100" spc="260" dirty="0">
                          <a:solidFill>
                            <a:srgbClr val="EBEBEB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CL" sz="2000" kern="100" dirty="0">
                          <a:solidFill>
                            <a:srgbClr val="EBEBEB"/>
                          </a:solidFill>
                          <a:effectLst/>
                          <a:latin typeface="SREHOP+Open Sauce One Regular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s-CL" sz="2000" kern="100" spc="260" dirty="0">
                          <a:solidFill>
                            <a:srgbClr val="EBEBEB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CL" sz="2000" kern="100" dirty="0">
                          <a:solidFill>
                            <a:srgbClr val="EBEBEB"/>
                          </a:solidFill>
                          <a:effectLst/>
                          <a:latin typeface="SREHOP+Open Sauce One Regular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es-CL" sz="11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825231"/>
                  </a:ext>
                </a:extLst>
              </a:tr>
            </a:tbl>
          </a:graphicData>
        </a:graphic>
      </p:graphicFrame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3113CD6C-376B-0D9F-1585-5E5D97D692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0927509"/>
              </p:ext>
            </p:extLst>
          </p:nvPr>
        </p:nvGraphicFramePr>
        <p:xfrm>
          <a:off x="371715" y="1162017"/>
          <a:ext cx="8465266" cy="494856"/>
        </p:xfrm>
        <a:graphic>
          <a:graphicData uri="http://schemas.openxmlformats.org/drawingml/2006/table">
            <a:tbl>
              <a:tblPr/>
              <a:tblGrid>
                <a:gridCol w="8465266">
                  <a:extLst>
                    <a:ext uri="{9D8B030D-6E8A-4147-A177-3AD203B41FA5}">
                      <a16:colId xmlns:a16="http://schemas.microsoft.com/office/drawing/2014/main" val="7392565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4085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CL" sz="3000" kern="100" dirty="0">
                          <a:solidFill>
                            <a:srgbClr val="EBEBEB"/>
                          </a:solidFill>
                          <a:effectLst/>
                          <a:latin typeface="WRBCHS+Open Sans Regular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Futuros proyectos que quieres </a:t>
                      </a:r>
                      <a:r>
                        <a:rPr lang="es-CL" sz="3000" kern="100" dirty="0" err="1">
                          <a:solidFill>
                            <a:srgbClr val="EBEBEB"/>
                          </a:solidFill>
                          <a:effectLst/>
                          <a:latin typeface="WRBCHS+Open Sans Regular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impelentar</a:t>
                      </a:r>
                      <a:r>
                        <a:rPr lang="es-CL" sz="3000" kern="100" dirty="0">
                          <a:solidFill>
                            <a:srgbClr val="EBEBEB"/>
                          </a:solidFill>
                          <a:effectLst/>
                          <a:latin typeface="WRBCHS+Open Sans Regular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o mejorar</a:t>
                      </a:r>
                      <a:endParaRPr lang="es-CL" sz="11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7850937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92594F13-CB73-94B8-9415-98D95330A38C}"/>
              </a:ext>
            </a:extLst>
          </p:cNvPr>
          <p:cNvSpPr txBox="1"/>
          <p:nvPr/>
        </p:nvSpPr>
        <p:spPr>
          <a:xfrm>
            <a:off x="6525530" y="5958978"/>
            <a:ext cx="21528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400" spc="105" dirty="0">
                <a:solidFill>
                  <a:srgbClr val="EBEBEB"/>
                </a:solidFill>
                <a:effectLst/>
                <a:latin typeface="ENDMLD+Poppins Regular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TU-USUARIO GITHUB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9263160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</TotalTime>
  <Words>184</Words>
  <Application>Microsoft Office PowerPoint</Application>
  <PresentationFormat>Presentación en pantalla (4:3)</PresentationFormat>
  <Paragraphs>33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9" baseType="lpstr">
      <vt:lpstr>AABTQP+Open Sans Regular</vt:lpstr>
      <vt:lpstr>Aptos</vt:lpstr>
      <vt:lpstr>Aptos Display</vt:lpstr>
      <vt:lpstr>Arial</vt:lpstr>
      <vt:lpstr>Calibri</vt:lpstr>
      <vt:lpstr>CIHKTH+Open Sans Regular</vt:lpstr>
      <vt:lpstr>ENDMLD+Poppins Regular</vt:lpstr>
      <vt:lpstr>PHOETM+Open Sauce One Regular</vt:lpstr>
      <vt:lpstr>QHTEFA+Open Sans Regular</vt:lpstr>
      <vt:lpstr>RTUSAV+Poppins Regular</vt:lpstr>
      <vt:lpstr>SREHOP+Open Sauce One Regular</vt:lpstr>
      <vt:lpstr>Times New Roman</vt:lpstr>
      <vt:lpstr>WRBCHS+Open Sans Regular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Daniela Puebla</dc:creator>
  <cp:lastModifiedBy>Daniela Puebla</cp:lastModifiedBy>
  <cp:revision>1</cp:revision>
  <dcterms:created xsi:type="dcterms:W3CDTF">2026-03-25T14:40:11Z</dcterms:created>
  <dcterms:modified xsi:type="dcterms:W3CDTF">2026-03-25T16:34:42Z</dcterms:modified>
</cp:coreProperties>
</file>